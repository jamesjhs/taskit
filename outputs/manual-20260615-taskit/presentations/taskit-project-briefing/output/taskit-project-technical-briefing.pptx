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C0B8"/>
                </a:solidFill>
              </a:rPr>
              <a:t>TASKIT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technical briefing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08483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3E2"/>
                </a:solidFill>
              </a:rPr>
              <a:t>A friendly, design-engineering walkthrough of the files, functions, and relationships that make TaskIt work.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5138928"/>
            <a:ext cx="2011680" cy="685800"/>
          </a:xfrm>
          <a:prstGeom prst="rect">
            <a:avLst/>
          </a:prstGeom>
          <a:solidFill>
            <a:srgbClr val="1F2A35">
              <a:alpha val="95000"/>
            </a:srgbClr>
          </a:solidFill>
          <a:ln w="8890">
            <a:solidFill>
              <a:srgbClr val="4050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52669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C0B8"/>
                </a:solidFill>
              </a:rPr>
              <a:t>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2376" y="55961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8E3E2"/>
                </a:solidFill>
              </a:rPr>
              <a:t>backend TS files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017520" y="5138928"/>
            <a:ext cx="2011680" cy="685800"/>
          </a:xfrm>
          <a:prstGeom prst="rect">
            <a:avLst/>
          </a:prstGeom>
          <a:solidFill>
            <a:srgbClr val="1F2A35">
              <a:alpha val="95000"/>
            </a:srgbClr>
          </a:solidFill>
          <a:ln w="8890">
            <a:solidFill>
              <a:srgbClr val="4050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52669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C0B8"/>
                </a:solidFill>
              </a:rPr>
              <a:t>122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45536" y="55961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8E3E2"/>
                </a:solidFill>
              </a:rPr>
              <a:t>HTTP endpoints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440680" y="5138928"/>
            <a:ext cx="2011680" cy="685800"/>
          </a:xfrm>
          <a:prstGeom prst="rect">
            <a:avLst/>
          </a:prstGeom>
          <a:solidFill>
            <a:srgbClr val="1F2A35">
              <a:alpha val="95000"/>
            </a:srgbClr>
          </a:solidFill>
          <a:ln w="8890">
            <a:solidFill>
              <a:srgbClr val="4050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52669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C0B8"/>
                </a:solidFill>
              </a:rPr>
              <a:t>18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68696" y="55961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8E3E2"/>
                </a:solidFill>
              </a:rPr>
              <a:t>Android Kotlin files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863840" y="5138928"/>
            <a:ext cx="2011680" cy="685800"/>
          </a:xfrm>
          <a:prstGeom prst="rect">
            <a:avLst/>
          </a:prstGeom>
          <a:solidFill>
            <a:srgbClr val="1F2A35">
              <a:alpha val="95000"/>
            </a:srgbClr>
          </a:solidFill>
          <a:ln w="8890">
            <a:solidFill>
              <a:srgbClr val="4050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856" y="52669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C0B8"/>
                </a:solidFill>
              </a:rPr>
              <a:t>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91856" y="55961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8E3E2"/>
                </a:solidFill>
              </a:rPr>
              <a:t>public/PWA files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543800" y="1115568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1F2A35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115568"/>
            <a:ext cx="54864" cy="1005840"/>
          </a:xfrm>
          <a:prstGeom prst="rect">
            <a:avLst/>
          </a:prstGeom>
          <a:solidFill>
            <a:srgbClr val="78C0B8"/>
          </a:solidFill>
          <a:ln w="12700">
            <a:solidFill>
              <a:srgbClr val="78C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1243584"/>
            <a:ext cx="35661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shape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08392" y="1545336"/>
            <a:ext cx="35661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+ encrypted SQLite API, static SPA/PWA, and native Android client share one task model.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543800" y="2487168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1F2A35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487168"/>
            <a:ext cx="54864" cy="100584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2615184"/>
            <a:ext cx="35661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08392" y="2916936"/>
            <a:ext cx="35661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engineers: enough source precision to discuss UX, data contracts, and technical trade-offs.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94360" y="63367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B0B1"/>
                </a:solidFill>
              </a:rPr>
              <a:t>Generated from local source on 15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GLANCE, TASKIT IS ONE PRODUCT WITH THREE RUNTIME SURFACES.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SHAPE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" cy="100584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56816"/>
            <a:ext cx="25603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SPA / PWA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258568"/>
            <a:ext cx="2560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public/index.html owns UI state, API calls, task flows, profile, admin, notifications, and arcade launch.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703320"/>
            <a:ext cx="54864" cy="100584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831336"/>
            <a:ext cx="25603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client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activities/fragments call the same REST API through Retrofit and persist tokens locally.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572000" y="2670048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670048"/>
            <a:ext cx="54864" cy="114300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798064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3099816"/>
            <a:ext cx="24688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server/src/index.ts composes middleware, static hosting, calendar feed, and route modules.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8412480" y="267004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670048"/>
            <a:ext cx="54864" cy="11430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2798064"/>
            <a:ext cx="25603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+ services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77072" y="3099816"/>
            <a:ext cx="25603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db.ts owns schema/migrations; services handle SMTP, scheduler, gamification, and web push.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3547872" y="2331720"/>
            <a:ext cx="932688" cy="73152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47872" y="4206240"/>
            <a:ext cx="932688" cy="-96012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3246120"/>
            <a:ext cx="914400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85800" y="5532120"/>
            <a:ext cx="104241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read: there is no separate frontend build framework; interaction design, state changes, copy, and API contracts meet inside a large HTML/JS shell.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TREE SEPARATES PRODUCT SURFACES, OPERATIONS DOCS, AND PLATFORM SERVICES CLEANLY.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417320" cy="457200"/>
          </a:xfrm>
          <a:prstGeom prst="rect">
            <a:avLst/>
          </a:prstGeom>
          <a:solidFill>
            <a:srgbClr val="2F7C8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45336"/>
            <a:ext cx="1097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490472"/>
            <a:ext cx="71323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API, schema, routes, services, middleware, Tailwind build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29800" y="153619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TS files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194560"/>
            <a:ext cx="1417320" cy="457200"/>
          </a:xfrm>
          <a:prstGeom prst="rect">
            <a:avLst/>
          </a:prstGeom>
          <a:solidFill>
            <a:srgbClr val="3F5D7D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22576"/>
            <a:ext cx="1097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267712"/>
            <a:ext cx="71323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SPA, generated CSS, service worker, manifest, games, search/AI discovery assets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231343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files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1417320" cy="4572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099816"/>
            <a:ext cx="1097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044952"/>
            <a:ext cx="71323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client, layouts, resources, Gradle config, publishing docs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29800" y="309067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Kotlin files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1417320" cy="457200"/>
          </a:xfrm>
          <a:prstGeom prst="rect">
            <a:avLst/>
          </a:prstGeom>
          <a:solidFill>
            <a:srgbClr val="5C8A61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77056"/>
            <a:ext cx="1097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at root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822192"/>
            <a:ext cx="71323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README, HOWTO, technical reference, user guide, push/Turnstile/search guides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29800" y="386791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markdown files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4526280"/>
            <a:ext cx="1417320" cy="457200"/>
          </a:xfrm>
          <a:prstGeom prst="rect">
            <a:avLst/>
          </a:prstGeom>
          <a:solidFill>
            <a:srgbClr val="5C8A61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654296"/>
            <a:ext cx="1097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4599432"/>
            <a:ext cx="71323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icon generation utility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29800" y="464515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script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" y="548640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6E4D8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486400"/>
            <a:ext cx="54864" cy="658368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5614416"/>
            <a:ext cx="10332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implication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5916168"/>
            <a:ext cx="103327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 work crosses at least two zones: API route, SPA function cluster, and either database migration or Android API model.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INDEX.TS IS THE MAIN COMPOSITION ROOT: PROTECTION FIRST, PRODUCT ROUTES SECOND.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ENTRYPOINT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+ DB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dotenv config and imports db.ts, creating schema/migrations before routes run.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560320" y="2651760"/>
            <a:ext cx="219456" cy="0"/>
          </a:xfrm>
          <a:prstGeom prst="line">
            <a:avLst/>
          </a:prstGeom>
          <a:noFill/>
          <a:ln w="15240">
            <a:solidFill>
              <a:srgbClr val="2F7C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993392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shell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6664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proxy, tiered rate limits, strict configured CORS, Helmet CSP, Permissions-Policy.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4800600" y="2651760"/>
            <a:ext cx="219456" cy="0"/>
          </a:xfrm>
          <a:prstGeom prst="line">
            <a:avLst/>
          </a:prstGeom>
          <a:noFill/>
          <a:ln w="15240">
            <a:solidFill>
              <a:srgbClr val="2F7C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993392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endpoints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66944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/readyz, /api/version, /calendar/:token/tasks.ics, /sw.js, static public assets.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7040880" y="2651760"/>
            <a:ext cx="219456" cy="0"/>
          </a:xfrm>
          <a:prstGeom prst="line">
            <a:avLst/>
          </a:prstGeom>
          <a:noFill/>
          <a:ln w="15240">
            <a:solidFill>
              <a:srgbClr val="2F7C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1993392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07224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07224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 plus authenticated task, group, user, admin, push, friends, gamification modules.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9281160" y="2651760"/>
            <a:ext cx="219456" cy="0"/>
          </a:xfrm>
          <a:prstGeom prst="line">
            <a:avLst/>
          </a:prstGeom>
          <a:noFill/>
          <a:ln w="15240">
            <a:solidFill>
              <a:srgbClr val="2F7C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1993392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47504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47504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startScheduler() begins hourly reminders and streak maintenance.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515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focus: server/src/index.ts also rewrites the service worker cache name using APP_VERSION so deployments can clear old caches predictably.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FILE IS BOTH SCHEMA OWNER AND RUNTIME MIGRATION LEDGER.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44752"/>
            <a:ext cx="54864" cy="91440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otp_tokens, magic_tokens, user_reports, user_blocks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453128" y="144475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444752"/>
            <a:ext cx="54864" cy="91440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7276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task_types, task_assignees, task_notes, task_subtasks, task_history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247888" y="144475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444752"/>
            <a:ext cx="54864" cy="9144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57276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groups, group_members, group_invites, user_friends, friend_invites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58368" y="286207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862072"/>
            <a:ext cx="54864" cy="91440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9008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user_skills, achievements, user_achievements, xp_events, collectibles, inventory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453128" y="286207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53128" y="2862072"/>
            <a:ext cx="54864" cy="91440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99008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smtp_settings, vapid_settings, push_subscriptions, user_alerts, reminder ledgers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247888" y="286207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2862072"/>
            <a:ext cx="54864" cy="9144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2990088"/>
            <a:ext cx="2971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turnstile_settings, site_settings, singleton rows and runtime defaults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713232" y="4892040"/>
            <a:ext cx="12801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db.ts pattern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4864608"/>
            <a:ext cx="9326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DB -&gt; optional SQLCipher key -&gt; WAL + foreign keys -&gt; CREATE TABLE IF NOT EXISTS -&gt; addCol migrations -&gt; seed singleton/settings/default catalogues.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MODULES ALIGN TO PRODUCT DOMAINS, SO OWNERSHIP IS EASY TO DISCUSS.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OWNERSHIP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057400" y="1481328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1285702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1472184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057400" y="1920240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43400" y="1901952"/>
            <a:ext cx="3214255" cy="14630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911096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85800" y="2359152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057400" y="2359152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343400" y="2340864"/>
            <a:ext cx="2410691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350008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85800" y="2798064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taskTypes.ts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057400" y="2798064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/api/task-types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343400" y="2779776"/>
            <a:ext cx="642851" cy="14630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2788920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85800" y="3236976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users.ts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057400" y="3236976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/api/users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43400" y="3218688"/>
            <a:ext cx="2249978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3227832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85800" y="3675888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gamification.ts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057400" y="3675888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/api/gamification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343400" y="3657600"/>
            <a:ext cx="2089265" cy="14630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3666744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85800" y="4114800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friends.ts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057400" y="4114800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/api/friends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343400" y="4096512"/>
            <a:ext cx="1124989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4105656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85800" y="4553712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push.ts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057400" y="4553712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/api/push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343400" y="4535424"/>
            <a:ext cx="482138" cy="14630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9800" y="4544568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85800" y="4992624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admin.ts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2057400" y="4992624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/api/admin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343400" y="4974336"/>
            <a:ext cx="5303520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4983480"/>
            <a:ext cx="32004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77240" y="5559552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6E4D8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5559552"/>
            <a:ext cx="54864" cy="566928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" y="5687568"/>
            <a:ext cx="101498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count is not complexity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1832" y="5989320"/>
            <a:ext cx="10149840" cy="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 and admin.ts are intentionally broad because they coordinate permissions, validation, related records, and non-critical gamification side effects.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CREATION TOUCHES UI STATE, API VALIDATION, RELATIONAL WRITES, ALERTS, AND XP.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54864" cy="100584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048256"/>
            <a:ext cx="2057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handleTaskSubmit()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350008"/>
            <a:ext cx="2057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form state, subtask rows, recurrence, notification flags, group/assignee choice.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920240"/>
            <a:ext cx="54864" cy="100584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048256"/>
            <a:ext cx="2057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/api/tasks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2350008"/>
            <a:ext cx="2057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type, group membership, assignees, due date, XP multiplier eligibility.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080760" y="19202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920240"/>
            <a:ext cx="54864" cy="100584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048256"/>
            <a:ext cx="2057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transaction-ish writes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2350008"/>
            <a:ext cx="2057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task, assignees, alerts, subtasks; use parameterised SQL throughout.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8823960" y="19202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920240"/>
            <a:ext cx="54864" cy="1005840"/>
          </a:xfrm>
          <a:prstGeom prst="rect">
            <a:avLst/>
          </a:prstGeom>
          <a:solidFill>
            <a:srgbClr val="5C8A61"/>
          </a:solidFill>
          <a:ln w="12700">
            <a:solidFill>
              <a:srgbClr val="5C8A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88552" y="2048256"/>
            <a:ext cx="2057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views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88552" y="2350008"/>
            <a:ext cx="2057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loadTasks(), renderTasks(), task detail modal, gamification strip, Android list refresh.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926080" y="2423160"/>
            <a:ext cx="347472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9280" y="2423160"/>
            <a:ext cx="347472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0" y="2423160"/>
            <a:ext cx="347472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" y="457200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72000"/>
            <a:ext cx="54864" cy="713232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sensitivity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" y="5001768"/>
            <a:ext cx="2880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task form supports normal tasks, sporadic tasks, and long-term goals by hiding irrelevant fields.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80560" y="457200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572000"/>
            <a:ext cx="54864" cy="713232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sensitivity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45152" y="5001768"/>
            <a:ext cx="2880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rules differ by creator, assignee, group member, group admin, and endpoint intent.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183880" y="457200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572000"/>
            <a:ext cx="54864" cy="713232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sensitivity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48472" y="5001768"/>
            <a:ext cx="2880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tasks and subtasks create follow-on rows, so mutation flows need careful transactional thinking.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NOTIFICATION SYSTEM HAS FOUR DELIVERY MODES SHARING ONE TASK TRUTH.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REMINDERS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54864" cy="82296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flags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002536"/>
            <a:ext cx="2468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notify_email and popup timing flags live on tasks; profile push defaults live on users.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572768"/>
            <a:ext cx="54864" cy="82296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scheduler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2002536"/>
            <a:ext cx="2468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sendReminders() scans due windows; resetOverdueStreaks() keeps gamification honest.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54964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572768"/>
            <a:ext cx="54864" cy="82296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14232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14232" y="2002536"/>
            <a:ext cx="2468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mail, web push subscriptions, in-app alerts, and private ICS calendar feed.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456432" y="1984248"/>
            <a:ext cx="10698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88352" y="1984248"/>
            <a:ext cx="10698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3657600"/>
            <a:ext cx="1371600" cy="32918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3739896"/>
            <a:ext cx="126187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40280" y="3657600"/>
            <a:ext cx="2834640" cy="32918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5144" y="3739896"/>
            <a:ext cx="27249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74920" y="3657600"/>
            <a:ext cx="6035040" cy="32918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3739896"/>
            <a:ext cx="5925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68680" y="3986784"/>
            <a:ext cx="137160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059936"/>
            <a:ext cx="126187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240280" y="3986784"/>
            <a:ext cx="283464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4059936"/>
            <a:ext cx="27249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services/mail.ts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074920" y="3986784"/>
            <a:ext cx="603504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9784" y="4059936"/>
            <a:ext cx="5925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settings are read at send time from smtp_settings.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68680" y="4315968"/>
            <a:ext cx="1371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4389120"/>
            <a:ext cx="126187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push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240280" y="4315968"/>
            <a:ext cx="2834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95144" y="4389120"/>
            <a:ext cx="27249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webpush-config.ts + routes/push.ts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74920" y="4315968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4389120"/>
            <a:ext cx="5925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VAPID keys come from DB; service worker repairs browser state.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68680" y="4645152"/>
            <a:ext cx="137160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4718304"/>
            <a:ext cx="126187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In-app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240280" y="4645152"/>
            <a:ext cx="283464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95144" y="4718304"/>
            <a:ext cx="27249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user_alerts + index.html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074920" y="4645152"/>
            <a:ext cx="6035040" cy="32918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9784" y="4718304"/>
            <a:ext cx="5925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are rendered and dismissible inside the SPA.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68680" y="4974336"/>
            <a:ext cx="1371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" y="5047488"/>
            <a:ext cx="126187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240280" y="4974336"/>
            <a:ext cx="2834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5144" y="5047488"/>
            <a:ext cx="27249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index.ts /calendar/:token/tasks.ics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074920" y="4974336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9784" y="5047488"/>
            <a:ext cx="592531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64-char token acts as the bearer secret and is rotatable.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 IS OPTIONAL, BUT IT IS DEEPLY CONNECTED TO TASK MUTATIONS.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6819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awardEventXp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56819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awardTaskXp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56819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computeLevel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915400" y="15087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8552" y="156819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computeDynamicTitle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85800" y="20116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07111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checkAndGrantAchievements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429000" y="20116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07111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computeNewStreakValues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07111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applyStreakFreeze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915400" y="20116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8552" y="207111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rollLootDrop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77240" y="32461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246120"/>
            <a:ext cx="54864" cy="91440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task creation, task completion, subtask completion, group invites, arcade token spend/recycle.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434840" y="32461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246120"/>
            <a:ext cx="54864" cy="91440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9432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user_skills, achievements, user_achievements, xp_events, item_categories, collectibles, user_inventory.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092440" y="32461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3246120"/>
            <a:ext cx="54864" cy="9144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57032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expression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57032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strips, profile breakdown, leaderboards, achievement cards, arcade unlocks, loot drop modal.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777240" y="5532120"/>
            <a:ext cx="10424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read: the engine adds delight without blocking core task success; most XP calls are wrapped so product completion survives non-critical reward failures.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SPA IS A LARGE SINGLE SHELL; FUNCTIONS CLUSTER AROUND USER JOURNEYS.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54864" cy="87782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4533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Auth/session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handlePasswordLogin, handleOTPVerify, storeAuth, logout, reset/change password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417320"/>
            <a:ext cx="54864" cy="87782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4533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84708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loadTasks, renderTasks, filters, FAB, task modal, detail modal, notes, subtasks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743200"/>
            <a:ext cx="54864" cy="877824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7121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17296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loadGroups, group members, invites, QR, role changes, blocks/reports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236208" y="274320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743200"/>
            <a:ext cx="54864" cy="877824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7121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Profile/admin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17296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locale, feedback, task types, account deletion, admin SMTP/VAPID/users/reports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58368" y="406908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4069080"/>
            <a:ext cx="54864" cy="87782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9709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49884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worker readiness, push subscribe/repair/debug, preferences, ICS token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236208" y="406908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4069080"/>
            <a:ext cx="54864" cy="877824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197096"/>
            <a:ext cx="4617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498848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strip, leaderboards, inventory, arcade launcher, loot drop handling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777240" y="5806440"/>
            <a:ext cx="10424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focus: public/index.html contains the application shell plus inline JavaScript; public/js/* adds version display, QR generation, and arcade games.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MIRRORS THE API MODEL WITH NATIVE SCREENS AND ADAPTERS.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54864" cy="91440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3677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ApiClient.kt configures Retrofit; ApiService.kt declares auth, task, group, note, and alert endpoints.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407408" y="15087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508760"/>
            <a:ext cx="54864" cy="91440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3677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TokenManager.kt stores auth token/user identity; AlertWorker.kt can surface local reminders.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08760"/>
            <a:ext cx="54864" cy="91440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3677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Models.kt aligns Kotlin data classes with REST JSON: users, auth, tasks, groups, notes, alerts.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85800" y="32461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30555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AuthActivity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447288" y="32461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30555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208776" y="32461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30555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TasksFragment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970264" y="32461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3305556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CreateTaskActivity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85800" y="3666744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726180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TaskDetailActivity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447288" y="3666744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726180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GroupsFragment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208776" y="3666744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726180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GroupDetailActivity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8970264" y="3666744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3416" y="3726180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ProfileFragment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85800" y="4087368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146804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AlertsFragment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3447288" y="4087368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146804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JoinGroupActivity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208776" y="4087368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4146804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TaskAdapter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970264" y="4087368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43416" y="4146804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AlertAdapter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685800" y="4507992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6E4D8"/>
          </a:solidFill>
          <a:ln w="12700">
            <a:solidFill>
              <a:srgbClr val="F6E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" y="4567428"/>
            <a:ext cx="20025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NoteAdapter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777240" y="5897880"/>
            <a:ext cx="104241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read: Android is a second presentation layer over the same product grammar, so API naming and response consistency directly affect native UI effort.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IS IMPLEMENTED AS LAYERED GUARDRAILS RATHER THAN ONE CENTRAL SWITCH.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" cy="804672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45336"/>
            <a:ext cx="4526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847088"/>
            <a:ext cx="4526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passwords, JWT HS256, OTP SHA-256, magic-token purpose and TTL, account lockout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54864" cy="804672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545336"/>
            <a:ext cx="4526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boundary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847088"/>
            <a:ext cx="4526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 allowlist, Helmet CSP, permissions policy, body size limits, proxy-aware rate limiting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85800" y="2633472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33472"/>
            <a:ext cx="54864" cy="804672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761488"/>
            <a:ext cx="4526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3063240"/>
            <a:ext cx="4526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parameterised SQL, validated migration identifiers, optional SQLCipher encryption at rest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217920" y="2633472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633472"/>
            <a:ext cx="54864" cy="804672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761488"/>
            <a:ext cx="4526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rules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3063240"/>
            <a:ext cx="4526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route-level authMiddleware/adminMiddleware plus creator, assignee, group-member/admin checks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85800" y="3849624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849624"/>
            <a:ext cx="54864" cy="804672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977640"/>
            <a:ext cx="4526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" y="4279392"/>
            <a:ext cx="4526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blocking/reporting, account deletion, admin data minimisation, rotatable ICS token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DESIGN CHANGE USUALLY TRACES A VISIBLE PATH ACROSS FIVE OWNERSHIP POINTS.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IMPACT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078992" cy="1078992"/>
          </a:xfrm>
          <a:prstGeom prst="ellipse">
            <a:avLst/>
          </a:prstGeom>
          <a:solidFill>
            <a:srgbClr val="2F7C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contract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5720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 or Android layout/activity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2596896"/>
            <a:ext cx="8412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057400"/>
            <a:ext cx="1078992" cy="1078992"/>
          </a:xfrm>
          <a:prstGeom prst="ellipse">
            <a:avLst/>
          </a:prstGeom>
          <a:solidFill>
            <a:srgbClr val="3F5D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7208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69748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file + ApiService.kt when native-visible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69080" y="2596896"/>
            <a:ext cx="8412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2057400"/>
            <a:ext cx="1078992" cy="1078992"/>
          </a:xfrm>
          <a:prstGeom prst="ellipse">
            <a:avLst/>
          </a:prstGeom>
          <a:solidFill>
            <a:srgbClr val="D778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7488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contract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93776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db.ts migration/seed/defaults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09360" y="2596896"/>
            <a:ext cx="8412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2057400"/>
            <a:ext cx="1078992" cy="1078992"/>
          </a:xfrm>
          <a:prstGeom prst="ellipse">
            <a:avLst/>
          </a:prstGeom>
          <a:solidFill>
            <a:srgbClr val="5C8A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87768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side effects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17804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mail, scheduler, push, gamification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49640" y="2596896"/>
            <a:ext cx="841248" cy="0"/>
          </a:xfrm>
          <a:prstGeom prst="line">
            <a:avLst/>
          </a:prstGeom>
          <a:noFill/>
          <a:ln w="1524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057400"/>
            <a:ext cx="1078992" cy="1078992"/>
          </a:xfrm>
          <a:prstGeom prst="ellipse">
            <a:avLst/>
          </a:prstGeom>
          <a:solidFill>
            <a:srgbClr val="1118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85832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28048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and ops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41832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README, TECHNICAL_REFERENCE, HOWTO, guides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5285232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F6E4D8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285232"/>
            <a:ext cx="54864" cy="64008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413248"/>
            <a:ext cx="10241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working rhythm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1832" y="5715000"/>
            <a:ext cx="1024128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UI states first, then lock API/data contracts, then make Android and docs follow the same nouns. That keeps design language and source boundaries aligned.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PRAGMATIC AND COHERENT, WITH A FEW SCALING WATCHPOINTS.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PRAISE AND WATCHPOINTS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389120"/>
          </a:xfrm>
          <a:prstGeom prst="rect">
            <a:avLst/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417320"/>
            <a:ext cx="5257800" cy="4389120"/>
          </a:xfrm>
          <a:prstGeom prst="rect">
            <a:avLst/>
          </a:prstGeom>
          <a:solidFill>
            <a:srgbClr val="F6E4D8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3291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working well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domain route ownership and a readable composition root.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862072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security posture for a compact app: lockout, OTP, token purpose, CORS, CSP, SQL parameters.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575304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product reach: PWA, calendar feed, Android, web push, email, gamification, docs.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288536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migrations make small self-hosted deployments easy to keep current.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3291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be careful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public/index.html is very large; design changes may benefit from gradual modularisation.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862072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 and admin.ts carry high coordination load and deserve focused regression tests.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575304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credentials sit in the DB; operational hardening may require secret-store integration.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288536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docs version strings lag package.json in places; automate this if releases continue quickly.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file catalogue: every server source file has a distinct ownership role.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24028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2148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743200" y="1325880"/>
            <a:ext cx="164592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399032"/>
            <a:ext cx="15544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717804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399032"/>
            <a:ext cx="7086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functions/classes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02920" y="1559052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18488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index.ts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743200" y="1559052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618488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root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389120" y="1559052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618488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escIcs, toIcsDate, pad, foldLine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02920" y="1792224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851660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config.ts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743200" y="1792224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1851660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389120" y="1792224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851660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vapidSubjectFallback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2920" y="2025396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084832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db.ts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743200" y="2025396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2084832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schema/migrations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389120" y="2025396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2084832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columnExists, addCol, vapidSubjectFallback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02920" y="2258568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318004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webpush-config.ts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743200" y="2258568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2318004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389120" y="2258568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318004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getVapidFromDb, reconfigureWebpush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02920" y="2491740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551176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wordlists.ts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743200" y="2491740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2551176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389120" y="2491740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551176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pick, generateGroupName, generateSharedKey, generateFriendKey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02920" y="2724912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784348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middleware/auth.ts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743200" y="2724912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88920" y="2784348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389120" y="2724912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2784348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authMiddleware, Request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02920" y="2958084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017520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middleware/admin.ts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743200" y="2958084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88920" y="3017520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389120" y="2958084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3017520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adminMiddleware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02920" y="3191256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250692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routes/auth.ts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743200" y="3191256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88920" y="3250692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389120" y="3191256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3250692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getBaseUrl, isValidEmail, verifyTurnstileToken, data, newFailedLogins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02920" y="3424428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483864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routes/tasks.ts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743200" y="3424428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8920" y="3483864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389120" y="3424428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3483864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formatDueDate, hasTaskAccess, computeNextDue, copySubtasksToNewTask, validIds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02920" y="3657600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717036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routes/groups.ts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743200" y="3657600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88920" y="3717036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389120" y="3657600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34840" y="3717036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getBaseUrl, isValidEmail, xpShareVal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502920" y="3890772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3950208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routes/taskTypes.ts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2743200" y="3890772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88920" y="3950208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389120" y="3890772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34840" y="3950208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constants / route handlers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502920" y="4123944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183380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routes/users.ts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2743200" y="4123944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88920" y="4183380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4389120" y="4123944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34840" y="4183380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isValidPushReminderTime, isValidTimeZone, subjectVal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502920" y="4357116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4416552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routes/gamification.ts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743200" y="4357116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88920" y="4416552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389120" y="4357116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34840" y="4416552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msg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02920" y="4590288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4649724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routes/friends.ts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2743200" y="4590288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88920" y="4649724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389120" y="4590288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34840" y="4649724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getBaseUrl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02920" y="4823460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4882896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routes/push.ts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2743200" y="4823460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88920" y="4882896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4389120" y="4823460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34840" y="4882896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constants / route handlers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502920" y="5056632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5116068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routes/admin.ts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2743200" y="5056632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88920" y="5116068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4389120" y="5056632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34840" y="5116068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validateIconFilename, getOriginalAdminId, isOriginalAdmin, newPublicKey, newPrivateKey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502920" y="5289804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8640" y="5349240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services/mail.ts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2743200" y="5289804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88920" y="5349240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4389120" y="5289804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34840" y="5349240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sanitizeHeaderValue, escHtml, getTransporter, sendMagicLink, sendOTP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502920" y="5522976"/>
            <a:ext cx="224028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582412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services/scheduler.ts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2743200" y="5522976"/>
            <a:ext cx="16459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88920" y="5582412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4389120" y="5522976"/>
            <a:ext cx="717804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34840" y="5582412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sendPushNotificationsForUser, isValidPushReminderTime, getSafePushReminderTime, isValidTimeZone, getSafeTimeZone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502920" y="5756148"/>
            <a:ext cx="224028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8640" y="5815584"/>
            <a:ext cx="21488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services/gamification.ts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2743200" y="5756148"/>
            <a:ext cx="16459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788920" y="5815584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4389120" y="5756148"/>
            <a:ext cx="717804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34840" y="5815584"/>
            <a:ext cx="70866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formatFriendlyTime, purgeExpiredDrops, selectWeightedRarity, rollLootDrop, claimPendingDrop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 catalogue: endpoints expose the product domains directly.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10312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20116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file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73152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99032"/>
            <a:ext cx="6400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8138160" cy="233172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99032"/>
            <a:ext cx="80467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02920" y="1559052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18488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2606040" y="1559052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618488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3337560" y="1559052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618488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/api/auth/register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502920" y="1792224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851660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2606040" y="1792224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851660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3337560" y="1792224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851660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/api/auth/login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502920" y="2025396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084832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2606040" y="2025396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084832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337560" y="2025396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084832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/api/auth/verify-otp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02920" y="2258568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318004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2606040" y="2258568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318004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3337560" y="2258568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318004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/api/auth/magic-link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02920" y="2491740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551176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2606040" y="2491740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2551176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3337560" y="2491740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551176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/api/auth/magic-link/verify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502920" y="2724912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784348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auth.ts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2606040" y="2724912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2784348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3337560" y="2724912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2784348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/api/auth/forgot-password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502920" y="2958084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017520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2606040" y="2958084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51760" y="3017520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3337560" y="2958084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3017520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502920" y="3191256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250692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2606040" y="3191256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3250692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3337560" y="3191256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3250692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502920" y="3424428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483864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2606040" y="3424428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1760" y="3483864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3337560" y="3424428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0" y="3483864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/api/tasks/sporadic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502920" y="3657600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717036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2606040" y="3657600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0" y="3717036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3337560" y="3657600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3717036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/api/tasks/create-sporadic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502920" y="3890772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3950208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2606040" y="3890772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51760" y="3950208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337560" y="3890772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83280" y="3950208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/api/tasks/:id/complete-sporadic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02920" y="4123944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183380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tasks.ts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2606040" y="4123944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51760" y="4183380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3337560" y="4123944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4183380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/api/tasks/:id/sporadic-last-done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502920" y="4357116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4416552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2606040" y="4357116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0" y="4416552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3337560" y="4357116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83280" y="4416552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/api/groups/invite/:token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502920" y="4590288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4649724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2606040" y="4590288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651760" y="4649724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3337560" y="4590288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83280" y="4649724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502920" y="4823460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4882896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2606040" y="4823460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51760" y="4882896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3337560" y="4823460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83280" y="4882896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502920" y="5056632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5116068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06040" y="5056632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651760" y="5116068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3337560" y="5056632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383280" y="5116068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/api/groups/join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502920" y="5289804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8640" y="5349240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2606040" y="5289804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51760" y="5349240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3337560" y="5289804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383280" y="5349240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/api/groups/invite/:token/accept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502920" y="5522976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582412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groups.ts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2606040" y="5522976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651760" y="5582412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3337560" y="5522976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83280" y="5582412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/api/groups/:id/members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502920" y="5756148"/>
            <a:ext cx="21031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8640" y="5815584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taskTypes.ts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2606040" y="5756148"/>
            <a:ext cx="73152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51760" y="5815584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337560" y="5756148"/>
            <a:ext cx="8138160" cy="2331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383280" y="5815584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/api/task-types/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02920" y="5989320"/>
            <a:ext cx="21031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48640" y="6048756"/>
            <a:ext cx="20116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taskTypes.ts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2606040" y="5989320"/>
            <a:ext cx="73152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651760" y="6048756"/>
            <a:ext cx="6400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3337560" y="5989320"/>
            <a:ext cx="8138160" cy="233172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383280" y="6048756"/>
            <a:ext cx="80467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/api/task-types/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functions are the reusable behaviours behind route handlers.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508760" cy="5120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1417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6080760" cy="5120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490472"/>
            <a:ext cx="59893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474720" cy="5120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38328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02920" y="1929384"/>
            <a:ext cx="1508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88820"/>
            <a:ext cx="1417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mail.ts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2011680" y="1929384"/>
            <a:ext cx="6080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988820"/>
            <a:ext cx="5989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sanitizeHeaderValue, escHtml, getTransporter, sendMagicLink, sendOTP, sendGroupInvite, sendPasswordReset, sendTaskReminder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8092440" y="1929384"/>
            <a:ext cx="3474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988820"/>
            <a:ext cx="33832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SMTP-backed transactional email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502920" y="2441448"/>
            <a:ext cx="150876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00884"/>
            <a:ext cx="1417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scheduler.ts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2011680" y="2441448"/>
            <a:ext cx="608076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2500884"/>
            <a:ext cx="5989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sendPushNotificationsForUser, timezone helpers, getScheduledPushTimestamp, sendReminders, startScheduler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8092440" y="2441448"/>
            <a:ext cx="347472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500884"/>
            <a:ext cx="33832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reminders and streak maintenance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502920" y="2953512"/>
            <a:ext cx="1508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12948"/>
            <a:ext cx="1417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gamification.ts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2011680" y="2953512"/>
            <a:ext cx="6080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012948"/>
            <a:ext cx="5989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formatFriendlyTime, rollLootDrop, claimPendingDrop, computeLevel, awardEventXp, awardTaskXp, checkAndGrantAchievements, applyStreakFreeze, resetOverdueStreaks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8092440" y="2953512"/>
            <a:ext cx="3474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012948"/>
            <a:ext cx="33832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XP, achievements, streaks, loot, titles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502920" y="3465576"/>
            <a:ext cx="150876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25012"/>
            <a:ext cx="1417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webpush-config.ts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2011680" y="3465576"/>
            <a:ext cx="608076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3525012"/>
            <a:ext cx="5989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getVapidFromDb, reconfigureWebpush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8092440" y="3465576"/>
            <a:ext cx="3474720" cy="5120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525012"/>
            <a:ext cx="33832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database-backed VAPID configuration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502920" y="3977640"/>
            <a:ext cx="1508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37076"/>
            <a:ext cx="1417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wordlists.ts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2011680" y="3977640"/>
            <a:ext cx="6080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4037076"/>
            <a:ext cx="59893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pick, generateGroupName, generateSharedKey, generateFriendKey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8092440" y="3977640"/>
            <a:ext cx="3474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4037076"/>
            <a:ext cx="33832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invite names and keys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function catalogue is best read as journey clusters.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828800" cy="429768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173736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9235440" cy="429768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399032"/>
            <a:ext cx="9144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functions in public/index.html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1828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15084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2331720" y="1755648"/>
            <a:ext cx="923544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815084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getBrowserPushTimeZone, api, toast, toggleLoginMode, handleMagicLinkSend, handlePasswordLogin, handleOTPVerify, handleRegister, storeAuth, logout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502920" y="2185416"/>
            <a:ext cx="182880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44852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2331720" y="2185416"/>
            <a:ext cx="923544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244852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saveLocale, submitFeedback, loadProfileTaskTypes, add/save/delete task type, change password, delete account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502920" y="2615184"/>
            <a:ext cx="1828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4620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2331720" y="2615184"/>
            <a:ext cx="923544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674620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loadTasks, renderTasks, openTaskModal, handleTaskSubmit, openDetail, quickStatus, defer, archive, delete, recurring controls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502920" y="3044952"/>
            <a:ext cx="182880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04388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Subtasks/notes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2331720" y="3044952"/>
            <a:ext cx="923544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104388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loadTaskNotes, submitNote, addSubtaskFormRow, createPendingSubtasks, loadSubtasks, toggleSubtask, deleteSubtask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02920" y="3474720"/>
            <a:ext cx="1828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34156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Groups/friends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2331720" y="3474720"/>
            <a:ext cx="923544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534156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loadGroups, renderGroups, create/join group, invites, QR, friend key, leaderboards, member roles, blocks/reports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502920" y="3904488"/>
            <a:ext cx="182880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63924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2331720" y="3904488"/>
            <a:ext cx="923544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963924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loadAdminStats, users/locked/reports/feedback, SMTP/VAPID, XP events, collectibles, arcade settings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502920" y="4334256"/>
            <a:ext cx="1828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393692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Push/calendar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2331720" y="4334256"/>
            <a:ext cx="923544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4393692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ensureActiveSwRegistration, repairPushServiceWorker, subscribeToPush, debug report, preferences, ICS token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502920" y="4764024"/>
            <a:ext cx="182880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23460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Arcade/inventory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2331720" y="4764024"/>
            <a:ext cx="9235440" cy="429768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4823460"/>
            <a:ext cx="9144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openArcade, arcadeSpendToken, closeArcade, openLootDropModal, keepDrop, recycleDrop, loadInventory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file catalogue maps native screens to the same API vocabulary.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37744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880360" y="1325880"/>
            <a:ext cx="182880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399032"/>
            <a:ext cx="173736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676656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99032"/>
            <a:ext cx="66751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Classes/models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02920" y="1609344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68780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ApiClient.kt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2880360" y="1609344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668780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client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4709160" y="1609344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68780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inside class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502920" y="1892808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52244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ApiService.kt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2880360" y="1892808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1952244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contract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4709160" y="1892808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52244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TaskNote, ApiService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02920" y="2176272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235708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TokenManager.kt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2880360" y="2176272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235708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4709160" y="2176272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35708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TokenManager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502920" y="2459736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519172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Models.kt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2880360" y="2459736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2519172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DTO/data models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4709160" y="2459736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19172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User, AuthResponse, VerifyOtpRequest, RegisterRequest, LoginRequest, TaskType, Task, CreateTaskRequest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502920" y="2743200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02636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AuthActivity.kt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2880360" y="2743200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802636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4709160" y="2743200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802636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AuthActivity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502920" y="3026664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086100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MainActivity.kt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2880360" y="3026664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086100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4709160" y="3026664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086100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502920" y="3310128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369564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TasksFragment.kt</a:t>
            </a:r>
            <a:endParaRPr lang="en-US" sz="670" dirty="0"/>
          </a:p>
        </p:txBody>
      </p:sp>
      <p:sp>
        <p:nvSpPr>
          <p:cNvPr id="50" name="Shape 48"/>
          <p:cNvSpPr/>
          <p:nvPr/>
        </p:nvSpPr>
        <p:spPr>
          <a:xfrm>
            <a:off x="2880360" y="3310128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3369564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fragment</a:t>
            </a:r>
            <a:endParaRPr lang="en-US" sz="670" dirty="0"/>
          </a:p>
        </p:txBody>
      </p:sp>
      <p:sp>
        <p:nvSpPr>
          <p:cNvPr id="52" name="Shape 50"/>
          <p:cNvSpPr/>
          <p:nvPr/>
        </p:nvSpPr>
        <p:spPr>
          <a:xfrm>
            <a:off x="4709160" y="3310128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369564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TasksFragment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502920" y="3593592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653028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TaskDetailActivity.kt</a:t>
            </a:r>
            <a:endParaRPr lang="en-US" sz="670" dirty="0"/>
          </a:p>
        </p:txBody>
      </p:sp>
      <p:sp>
        <p:nvSpPr>
          <p:cNvPr id="56" name="Shape 54"/>
          <p:cNvSpPr/>
          <p:nvPr/>
        </p:nvSpPr>
        <p:spPr>
          <a:xfrm>
            <a:off x="2880360" y="3593592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3653028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4709160" y="3593592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653028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TaskDetailActivity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502920" y="3877056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936492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CreateTaskActivity.kt</a:t>
            </a:r>
            <a:endParaRPr lang="en-US" sz="670" dirty="0"/>
          </a:p>
        </p:txBody>
      </p:sp>
      <p:sp>
        <p:nvSpPr>
          <p:cNvPr id="62" name="Shape 60"/>
          <p:cNvSpPr/>
          <p:nvPr/>
        </p:nvSpPr>
        <p:spPr>
          <a:xfrm>
            <a:off x="2880360" y="3877056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0" y="3936492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4709160" y="3877056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936492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CreateTaskActivity, AssigneeViewHolder</a:t>
            </a:r>
            <a:endParaRPr lang="en-US" sz="670" dirty="0"/>
          </a:p>
        </p:txBody>
      </p:sp>
      <p:sp>
        <p:nvSpPr>
          <p:cNvPr id="66" name="Shape 64"/>
          <p:cNvSpPr/>
          <p:nvPr/>
        </p:nvSpPr>
        <p:spPr>
          <a:xfrm>
            <a:off x="502920" y="4160520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219956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GroupsFragment.kt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2880360" y="4160520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0" y="4219956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fragment</a:t>
            </a:r>
            <a:endParaRPr lang="en-US" sz="670" dirty="0"/>
          </a:p>
        </p:txBody>
      </p:sp>
      <p:sp>
        <p:nvSpPr>
          <p:cNvPr id="70" name="Shape 68"/>
          <p:cNvSpPr/>
          <p:nvPr/>
        </p:nvSpPr>
        <p:spPr>
          <a:xfrm>
            <a:off x="4709160" y="4160520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4219956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GroupsFragment, GroupAdapter, GroupViewHolder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502920" y="4443984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4503420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GroupDetailActivity.kt</a:t>
            </a:r>
            <a:endParaRPr lang="en-US" sz="670" dirty="0"/>
          </a:p>
        </p:txBody>
      </p:sp>
      <p:sp>
        <p:nvSpPr>
          <p:cNvPr id="74" name="Shape 72"/>
          <p:cNvSpPr/>
          <p:nvPr/>
        </p:nvSpPr>
        <p:spPr>
          <a:xfrm>
            <a:off x="2880360" y="4443984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0" y="4503420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76" name="Shape 74"/>
          <p:cNvSpPr/>
          <p:nvPr/>
        </p:nvSpPr>
        <p:spPr>
          <a:xfrm>
            <a:off x="4709160" y="4443984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4880" y="4503420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GroupDetailActivity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502920" y="4727448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786884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ProfileFragment.kt</a:t>
            </a:r>
            <a:endParaRPr lang="en-US" sz="670" dirty="0"/>
          </a:p>
        </p:txBody>
      </p:sp>
      <p:sp>
        <p:nvSpPr>
          <p:cNvPr id="80" name="Shape 78"/>
          <p:cNvSpPr/>
          <p:nvPr/>
        </p:nvSpPr>
        <p:spPr>
          <a:xfrm>
            <a:off x="2880360" y="4727448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26080" y="4786884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fragment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4709160" y="4727448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0" y="4786884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ProfileFragment</a:t>
            </a:r>
            <a:endParaRPr lang="en-US" sz="670" dirty="0"/>
          </a:p>
        </p:txBody>
      </p:sp>
      <p:sp>
        <p:nvSpPr>
          <p:cNvPr id="84" name="Shape 82"/>
          <p:cNvSpPr/>
          <p:nvPr/>
        </p:nvSpPr>
        <p:spPr>
          <a:xfrm>
            <a:off x="502920" y="5010912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5070348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AlertsFragment.kt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2880360" y="5010912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926080" y="5070348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fragment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4709160" y="5010912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4880" y="5070348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AlertsFragment</a:t>
            </a:r>
            <a:endParaRPr lang="en-US" sz="670" dirty="0"/>
          </a:p>
        </p:txBody>
      </p:sp>
      <p:sp>
        <p:nvSpPr>
          <p:cNvPr id="90" name="Shape 88"/>
          <p:cNvSpPr/>
          <p:nvPr/>
        </p:nvSpPr>
        <p:spPr>
          <a:xfrm>
            <a:off x="502920" y="5294376"/>
            <a:ext cx="237744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5353812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JoinGroupActivity.kt</a:t>
            </a:r>
            <a:endParaRPr lang="en-US" sz="670" dirty="0"/>
          </a:p>
        </p:txBody>
      </p:sp>
      <p:sp>
        <p:nvSpPr>
          <p:cNvPr id="92" name="Shape 90"/>
          <p:cNvSpPr/>
          <p:nvPr/>
        </p:nvSpPr>
        <p:spPr>
          <a:xfrm>
            <a:off x="2880360" y="5294376"/>
            <a:ext cx="182880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0" y="5353812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activity</a:t>
            </a:r>
            <a:endParaRPr lang="en-US" sz="670" dirty="0"/>
          </a:p>
        </p:txBody>
      </p:sp>
      <p:sp>
        <p:nvSpPr>
          <p:cNvPr id="94" name="Shape 92"/>
          <p:cNvSpPr/>
          <p:nvPr/>
        </p:nvSpPr>
        <p:spPr>
          <a:xfrm>
            <a:off x="4709160" y="5294376"/>
            <a:ext cx="6766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0" y="5353812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JoinGroupActivity</a:t>
            </a:r>
            <a:endParaRPr lang="en-US" sz="670" dirty="0"/>
          </a:p>
        </p:txBody>
      </p:sp>
      <p:sp>
        <p:nvSpPr>
          <p:cNvPr id="96" name="Shape 94"/>
          <p:cNvSpPr/>
          <p:nvPr/>
        </p:nvSpPr>
        <p:spPr>
          <a:xfrm>
            <a:off x="502920" y="5577840"/>
            <a:ext cx="2377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5637276"/>
            <a:ext cx="228600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AlertWorker.kt</a:t>
            </a:r>
            <a:endParaRPr lang="en-US" sz="670" dirty="0"/>
          </a:p>
        </p:txBody>
      </p:sp>
      <p:sp>
        <p:nvSpPr>
          <p:cNvPr id="98" name="Shape 96"/>
          <p:cNvSpPr/>
          <p:nvPr/>
        </p:nvSpPr>
        <p:spPr>
          <a:xfrm>
            <a:off x="2880360" y="5577840"/>
            <a:ext cx="182880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26080" y="5637276"/>
            <a:ext cx="173736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670" dirty="0"/>
          </a:p>
        </p:txBody>
      </p:sp>
      <p:sp>
        <p:nvSpPr>
          <p:cNvPr id="100" name="Shape 98"/>
          <p:cNvSpPr/>
          <p:nvPr/>
        </p:nvSpPr>
        <p:spPr>
          <a:xfrm>
            <a:off x="4709160" y="5577840"/>
            <a:ext cx="6766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4880" y="5637276"/>
            <a:ext cx="6675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AlertWorker</a:t>
            </a:r>
            <a:endParaRPr lang="en-US" sz="670" dirty="0"/>
          </a:p>
        </p:txBody>
      </p:sp>
      <p:sp>
        <p:nvSpPr>
          <p:cNvPr id="102" name="Text 100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asset catalogue separates app shell, PWA support, SEO, and arcade code.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46888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23774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971800" y="1325880"/>
            <a:ext cx="219456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99032"/>
            <a:ext cx="21031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166360" y="1325880"/>
            <a:ext cx="6309360" cy="283464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399032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functions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02920" y="1609344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68780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2971800" y="1609344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668780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 shell and UI logic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5166360" y="1609344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68780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getBrowserPushTimeZone, updatePushTimeZoneLabel, isMobileDevice, enhanceMobileDatetimePickers, userLocale, fmtDate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502920" y="1892808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52244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sw.js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2971800" y="1892808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952244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cache/update worker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5166360" y="1892808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952244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targetUrl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02920" y="2176272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235708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app.css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2971800" y="2176272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235708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hand-authored app CSS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5166360" y="2176272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235708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502920" y="2459736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519172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tailwind.css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2971800" y="2459736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519172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utility CSS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5166360" y="2459736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519172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502920" y="2743200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02636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manifest.json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2971800" y="2743200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2802636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asset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5166360" y="2743200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802636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502920" y="3026664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086100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robots.txt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2971800" y="3026664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3086100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asset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5166360" y="3026664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086100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502920" y="3310128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369564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sitemap.xml</a:t>
            </a:r>
            <a:endParaRPr lang="en-US" sz="670" dirty="0"/>
          </a:p>
        </p:txBody>
      </p:sp>
      <p:sp>
        <p:nvSpPr>
          <p:cNvPr id="50" name="Shape 48"/>
          <p:cNvSpPr/>
          <p:nvPr/>
        </p:nvSpPr>
        <p:spPr>
          <a:xfrm>
            <a:off x="2971800" y="3310128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3369564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asset</a:t>
            </a:r>
            <a:endParaRPr lang="en-US" sz="670" dirty="0"/>
          </a:p>
        </p:txBody>
      </p:sp>
      <p:sp>
        <p:nvSpPr>
          <p:cNvPr id="52" name="Shape 50"/>
          <p:cNvSpPr/>
          <p:nvPr/>
        </p:nvSpPr>
        <p:spPr>
          <a:xfrm>
            <a:off x="5166360" y="3310128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3369564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502920" y="3593592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653028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llms.txt</a:t>
            </a:r>
            <a:endParaRPr lang="en-US" sz="670" dirty="0"/>
          </a:p>
        </p:txBody>
      </p:sp>
      <p:sp>
        <p:nvSpPr>
          <p:cNvPr id="56" name="Shape 54"/>
          <p:cNvSpPr/>
          <p:nvPr/>
        </p:nvSpPr>
        <p:spPr>
          <a:xfrm>
            <a:off x="2971800" y="3593592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653028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asset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5166360" y="3593592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3653028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502920" y="3877056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936492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js/version.js</a:t>
            </a:r>
            <a:endParaRPr lang="en-US" sz="670" dirty="0"/>
          </a:p>
        </p:txBody>
      </p:sp>
      <p:sp>
        <p:nvSpPr>
          <p:cNvPr id="62" name="Shape 60"/>
          <p:cNvSpPr/>
          <p:nvPr/>
        </p:nvSpPr>
        <p:spPr>
          <a:xfrm>
            <a:off x="2971800" y="3877056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3936492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display helper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5166360" y="3877056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2080" y="3936492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declarative/static content</a:t>
            </a:r>
            <a:endParaRPr lang="en-US" sz="670" dirty="0"/>
          </a:p>
        </p:txBody>
      </p:sp>
      <p:sp>
        <p:nvSpPr>
          <p:cNvPr id="66" name="Shape 64"/>
          <p:cNvSpPr/>
          <p:nvPr/>
        </p:nvSpPr>
        <p:spPr>
          <a:xfrm>
            <a:off x="502920" y="4160520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219956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js/qrcode.js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2971800" y="4160520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4219956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library</a:t>
            </a:r>
            <a:endParaRPr lang="en-US" sz="670" dirty="0"/>
          </a:p>
        </p:txBody>
      </p:sp>
      <p:sp>
        <p:nvSpPr>
          <p:cNvPr id="70" name="Shape 68"/>
          <p:cNvSpPr/>
          <p:nvPr/>
        </p:nvSpPr>
        <p:spPr>
          <a:xfrm>
            <a:off x="5166360" y="4160520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0" y="4219956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qrPolynomial, toUTF8Array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502920" y="4443984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4503420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js/game-hangman.js</a:t>
            </a:r>
            <a:endParaRPr lang="en-US" sz="670" dirty="0"/>
          </a:p>
        </p:txBody>
      </p:sp>
      <p:sp>
        <p:nvSpPr>
          <p:cNvPr id="74" name="Shape 72"/>
          <p:cNvSpPr/>
          <p:nvPr/>
        </p:nvSpPr>
        <p:spPr>
          <a:xfrm>
            <a:off x="2971800" y="4443984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0" y="4503420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mini-game</a:t>
            </a:r>
            <a:endParaRPr lang="en-US" sz="670" dirty="0"/>
          </a:p>
        </p:txBody>
      </p:sp>
      <p:sp>
        <p:nvSpPr>
          <p:cNvPr id="76" name="Shape 74"/>
          <p:cNvSpPr/>
          <p:nvPr/>
        </p:nvSpPr>
        <p:spPr>
          <a:xfrm>
            <a:off x="5166360" y="4443984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0" y="4503420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startGame, render, buildSvg, buildWordSlots, buildKeyboard, guess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502920" y="4727448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786884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js/game-wordsearch.js</a:t>
            </a:r>
            <a:endParaRPr lang="en-US" sz="670" dirty="0"/>
          </a:p>
        </p:txBody>
      </p:sp>
      <p:sp>
        <p:nvSpPr>
          <p:cNvPr id="80" name="Shape 78"/>
          <p:cNvSpPr/>
          <p:nvPr/>
        </p:nvSpPr>
        <p:spPr>
          <a:xfrm>
            <a:off x="2971800" y="4727448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17520" y="4786884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mini-game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5166360" y="4727448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12080" y="4786884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buildGrid, render, fitCellFont, attachGridHandlers, cellAtPoint, selectionPath</a:t>
            </a:r>
            <a:endParaRPr lang="en-US" sz="670" dirty="0"/>
          </a:p>
        </p:txBody>
      </p:sp>
      <p:sp>
        <p:nvSpPr>
          <p:cNvPr id="84" name="Shape 82"/>
          <p:cNvSpPr/>
          <p:nvPr/>
        </p:nvSpPr>
        <p:spPr>
          <a:xfrm>
            <a:off x="502920" y="5010912"/>
            <a:ext cx="24688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5070348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js/game-code-breaker.js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2971800" y="5010912"/>
            <a:ext cx="21945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17520" y="5070348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mini-game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5166360" y="5010912"/>
            <a:ext cx="6309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12080" y="5070348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generateSecret, evaluate, startGame, selectColour, placeColour, submitGuess</a:t>
            </a:r>
            <a:endParaRPr lang="en-US" sz="670" dirty="0"/>
          </a:p>
        </p:txBody>
      </p:sp>
      <p:sp>
        <p:nvSpPr>
          <p:cNvPr id="90" name="Shape 88"/>
          <p:cNvSpPr/>
          <p:nvPr/>
        </p:nvSpPr>
        <p:spPr>
          <a:xfrm>
            <a:off x="502920" y="5294376"/>
            <a:ext cx="246888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5353812"/>
            <a:ext cx="237744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js/game-whac-a-bug.js</a:t>
            </a:r>
            <a:endParaRPr lang="en-US" sz="670" dirty="0"/>
          </a:p>
        </p:txBody>
      </p:sp>
      <p:sp>
        <p:nvSpPr>
          <p:cNvPr id="92" name="Shape 90"/>
          <p:cNvSpPr/>
          <p:nvPr/>
        </p:nvSpPr>
        <p:spPr>
          <a:xfrm>
            <a:off x="2971800" y="5294376"/>
            <a:ext cx="21945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17520" y="5353812"/>
            <a:ext cx="21031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mini-game</a:t>
            </a:r>
            <a:endParaRPr lang="en-US" sz="670" dirty="0"/>
          </a:p>
        </p:txBody>
      </p:sp>
      <p:sp>
        <p:nvSpPr>
          <p:cNvPr id="94" name="Shape 92"/>
          <p:cNvSpPr/>
          <p:nvPr/>
        </p:nvSpPr>
        <p:spPr>
          <a:xfrm>
            <a:off x="5166360" y="5294376"/>
            <a:ext cx="6309360" cy="283464"/>
          </a:xfrm>
          <a:prstGeom prst="rect">
            <a:avLst/>
          </a:prstGeom>
          <a:solidFill>
            <a:srgbClr val="F7F4ED"/>
          </a:solidFill>
          <a:ln w="5080">
            <a:solidFill>
              <a:srgbClr val="D7D0C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12080" y="5353812"/>
            <a:ext cx="621792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pickBugType, startGame, stopTimers, restartSpawnInterval, startTimers, spawnBug</a:t>
            </a:r>
            <a:endParaRPr lang="en-US" sz="670" dirty="0"/>
          </a:p>
        </p:txBody>
      </p:sp>
      <p:sp>
        <p:nvSpPr>
          <p:cNvPr id="96" name="Text 94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PRESENTATION AS A MAP FOR DESIGN-ENGINEERING CONVERSATIONS.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3"/>
                </a:solidFill>
              </a:rPr>
              <a:t>TaskIt project briefing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" cy="1005840"/>
          </a:xfrm>
          <a:prstGeom prst="rect">
            <a:avLst/>
          </a:prstGeom>
          <a:solidFill>
            <a:srgbClr val="2F7C80"/>
          </a:solidFill>
          <a:ln w="12700">
            <a:solidFill>
              <a:srgbClr val="2F7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2821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product discussions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029968"/>
            <a:ext cx="3063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slides 2, 7, 10, and 13 to identify user journey, state, and contract impact.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AF2F0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00200"/>
            <a:ext cx="54864" cy="1005840"/>
          </a:xfrm>
          <a:prstGeom prst="rect">
            <a:avLst/>
          </a:prstGeom>
          <a:solidFill>
            <a:srgbClr val="3F5D7D"/>
          </a:solidFill>
          <a:ln w="12700">
            <a:solidFill>
              <a:srgbClr val="3F5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72821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implementation discussions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029968"/>
            <a:ext cx="3063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slides 4, 5, 6, and appendices A-C to find server ownership and side effects.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0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00200"/>
            <a:ext cx="54864" cy="1005840"/>
          </a:xfrm>
          <a:prstGeom prst="rect">
            <a:avLst/>
          </a:prstGeom>
          <a:solidFill>
            <a:srgbClr val="D77845"/>
          </a:solidFill>
          <a:ln w="12700">
            <a:solidFill>
              <a:srgbClr val="D77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728216"/>
            <a:ext cx="3063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cross-surface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029968"/>
            <a:ext cx="3063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slides 10, 11, and appendices D-F to keep web/PWA/Android vocabulary aligned.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49808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High-level assessment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</a:rPr>
              <a:t>TaskIt is a thoughtfully evolved self-hosted productivity app. The codebase favours explicitness over framework abstraction, which makes the behaviour visible and approachable, but also makes careful ownership maps valuable as the product grows.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686032" y="64556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773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TaskIt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TaskIt Project Technical Briefing</dc:title>
  <dc:subject>TaskIt project technical briefing</dc:subject>
  <dc:creator>OpenAI Codex</dc:creator>
  <cp:lastModifiedBy>OpenAI Codex</cp:lastModifiedBy>
  <cp:revision>1</cp:revision>
  <dcterms:created xsi:type="dcterms:W3CDTF">2026-06-15T07:05:48Z</dcterms:created>
  <dcterms:modified xsi:type="dcterms:W3CDTF">2026-06-15T07:05:48Z</dcterms:modified>
</cp:coreProperties>
</file>